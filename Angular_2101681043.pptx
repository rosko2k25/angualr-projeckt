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60" r:id="rId3"/>
    <p:sldId id="259" r:id="rId4"/>
    <p:sldId id="296" r:id="rId5"/>
    <p:sldId id="297" r:id="rId6"/>
    <p:sldId id="298" r:id="rId7"/>
    <p:sldId id="299" r:id="rId8"/>
    <p:sldId id="300" r:id="rId9"/>
    <p:sldId id="262" r:id="rId10"/>
    <p:sldId id="301" r:id="rId11"/>
    <p:sldId id="302" r:id="rId12"/>
    <p:sldId id="303" r:id="rId13"/>
    <p:sldId id="304" r:id="rId14"/>
    <p:sldId id="305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olos Text" panose="020B0604020202020204" charset="0"/>
      <p:regular r:id="rId21"/>
      <p:bold r:id="rId22"/>
    </p:embeddedFont>
    <p:embeddedFont>
      <p:font typeface="Hind" panose="020B0604020202020204" charset="0"/>
      <p:regular r:id="rId23"/>
      <p:bold r:id="rId24"/>
    </p:embeddedFont>
    <p:embeddedFont>
      <p:font typeface="Nunito Light" pitchFamily="2" charset="-52"/>
      <p:regular r:id="rId25"/>
      <p:italic r:id="rId26"/>
    </p:embeddedFont>
    <p:embeddedFont>
      <p:font typeface="Raleway" panose="020B0604020202020204" charset="-52"/>
      <p:regular r:id="rId27"/>
      <p:bold r:id="rId28"/>
      <p:italic r:id="rId29"/>
      <p:boldItalic r:id="rId30"/>
    </p:embeddedFont>
    <p:embeddedFont>
      <p:font typeface="Work Sans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3876BC-32F7-4488-95C5-049BCF6A7F88}">
  <a:tblStyle styleId="{743876BC-32F7-4488-95C5-049BCF6A7F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89353C-DB04-4A75-8017-F97D59D31BD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83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75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3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20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216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284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214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009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448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9471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42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68375"/>
            <a:ext cx="52599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05625"/>
            <a:ext cx="2414100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32900" y="2408450"/>
            <a:ext cx="4301100" cy="16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4132900" y="1285925"/>
            <a:ext cx="1450800" cy="104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713225" y="1372625"/>
            <a:ext cx="385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ubTitle" idx="1"/>
          </p:nvPr>
        </p:nvSpPr>
        <p:spPr>
          <a:xfrm>
            <a:off x="713225" y="2079025"/>
            <a:ext cx="3858900" cy="17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>
            <a:spLocks noGrp="1"/>
          </p:cNvSpPr>
          <p:nvPr>
            <p:ph type="pic" idx="2"/>
          </p:nvPr>
        </p:nvSpPr>
        <p:spPr>
          <a:xfrm>
            <a:off x="4934850" y="0"/>
            <a:ext cx="4209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0" name="Google Shape;60;p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-2336774" y="-139065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7"/>
          <p:cNvGrpSpPr/>
          <p:nvPr/>
        </p:nvGrpSpPr>
        <p:grpSpPr>
          <a:xfrm>
            <a:off x="-937361" y="3117653"/>
            <a:ext cx="1850041" cy="2269907"/>
            <a:chOff x="5119300" y="3450025"/>
            <a:chExt cx="2148213" cy="2635749"/>
          </a:xfrm>
        </p:grpSpPr>
        <p:pic>
          <p:nvPicPr>
            <p:cNvPr id="62" name="Google Shape;62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" name="Google Shape;64;p7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-756850" y="-1390653"/>
            <a:ext cx="2344349" cy="234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8216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4787250" y="1760273"/>
            <a:ext cx="5313368" cy="5145951"/>
            <a:chOff x="5263075" y="2238848"/>
            <a:chExt cx="5313368" cy="5145951"/>
          </a:xfrm>
        </p:grpSpPr>
        <p:sp>
          <p:nvSpPr>
            <p:cNvPr id="68" name="Google Shape;68;p8"/>
            <p:cNvSpPr/>
            <p:nvPr/>
          </p:nvSpPr>
          <p:spPr>
            <a:xfrm>
              <a:off x="5263075" y="2238848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5305376" y="2550869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5305374" y="2238850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8"/>
          <p:cNvGrpSpPr/>
          <p:nvPr/>
        </p:nvGrpSpPr>
        <p:grpSpPr>
          <a:xfrm>
            <a:off x="-937361" y="3117653"/>
            <a:ext cx="1850041" cy="2269907"/>
            <a:chOff x="5119300" y="3450025"/>
            <a:chExt cx="2148213" cy="2635749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4" name="Google Shape;74;p8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5854726" y="-1371604"/>
            <a:ext cx="4775101" cy="253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7739450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713225" y="11747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713225" y="31391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9" name="Google Shape;79;p9"/>
          <p:cNvGrpSpPr/>
          <p:nvPr/>
        </p:nvGrpSpPr>
        <p:grpSpPr>
          <a:xfrm rot="10800000" flipH="1">
            <a:off x="5149200" y="-2223977"/>
            <a:ext cx="5313368" cy="5145951"/>
            <a:chOff x="5263075" y="2238848"/>
            <a:chExt cx="5313368" cy="5145951"/>
          </a:xfrm>
        </p:grpSpPr>
        <p:sp>
          <p:nvSpPr>
            <p:cNvPr id="80" name="Google Shape;80;p9"/>
            <p:cNvSpPr/>
            <p:nvPr/>
          </p:nvSpPr>
          <p:spPr>
            <a:xfrm>
              <a:off x="5263075" y="2238848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5305376" y="2550869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5305374" y="2238850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9"/>
          <p:cNvGrpSpPr/>
          <p:nvPr/>
        </p:nvGrpSpPr>
        <p:grpSpPr>
          <a:xfrm>
            <a:off x="-360073" y="3617453"/>
            <a:ext cx="1850041" cy="2269907"/>
            <a:chOff x="5119300" y="3450025"/>
            <a:chExt cx="2148213" cy="2635749"/>
          </a:xfrm>
        </p:grpSpPr>
        <p:pic>
          <p:nvPicPr>
            <p:cNvPr id="84" name="Google Shape;8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" name="Google Shape;86;p9"/>
          <p:cNvGrpSpPr/>
          <p:nvPr/>
        </p:nvGrpSpPr>
        <p:grpSpPr>
          <a:xfrm>
            <a:off x="7270851" y="4026546"/>
            <a:ext cx="4775101" cy="2539096"/>
            <a:chOff x="6835801" y="3991421"/>
            <a:chExt cx="4775101" cy="2539096"/>
          </a:xfrm>
        </p:grpSpPr>
        <p:pic>
          <p:nvPicPr>
            <p:cNvPr id="87" name="Google Shape;87;p9"/>
            <p:cNvPicPr preferRelativeResize="0"/>
            <p:nvPr/>
          </p:nvPicPr>
          <p:blipFill>
            <a:blip r:embed="rId3">
              <a:alphaModFix amt="21000"/>
            </a:blip>
            <a:stretch>
              <a:fillRect/>
            </a:stretch>
          </p:blipFill>
          <p:spPr>
            <a:xfrm rot="10800000" flipH="1">
              <a:off x="6835801" y="3991421"/>
              <a:ext cx="4775101" cy="2539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9"/>
            <p:cNvPicPr preferRelativeResize="0"/>
            <p:nvPr/>
          </p:nvPicPr>
          <p:blipFill>
            <a:blip r:embed="rId4">
              <a:alphaModFix amt="79000"/>
            </a:blip>
            <a:stretch>
              <a:fillRect/>
            </a:stretch>
          </p:blipFill>
          <p:spPr>
            <a:xfrm>
              <a:off x="7501325" y="4109461"/>
              <a:ext cx="2344349" cy="23462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1"/>
          </p:nvPr>
        </p:nvSpPr>
        <p:spPr>
          <a:xfrm>
            <a:off x="713225" y="2579825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2"/>
          </p:nvPr>
        </p:nvSpPr>
        <p:spPr>
          <a:xfrm>
            <a:off x="3259700" y="2579825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3"/>
          </p:nvPr>
        </p:nvSpPr>
        <p:spPr>
          <a:xfrm>
            <a:off x="5806525" y="2579825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4"/>
          </p:nvPr>
        </p:nvSpPr>
        <p:spPr>
          <a:xfrm>
            <a:off x="713225" y="1959075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5"/>
          </p:nvPr>
        </p:nvSpPr>
        <p:spPr>
          <a:xfrm>
            <a:off x="3259704" y="1959075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ubTitle" idx="6"/>
          </p:nvPr>
        </p:nvSpPr>
        <p:spPr>
          <a:xfrm>
            <a:off x="5806525" y="1959075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61" name="Google Shape;161;p17"/>
          <p:cNvGrpSpPr/>
          <p:nvPr/>
        </p:nvGrpSpPr>
        <p:grpSpPr>
          <a:xfrm rot="10800000" flipH="1">
            <a:off x="5149200" y="-2223977"/>
            <a:ext cx="5313368" cy="5145951"/>
            <a:chOff x="5263075" y="2238848"/>
            <a:chExt cx="5313368" cy="5145951"/>
          </a:xfrm>
        </p:grpSpPr>
        <p:sp>
          <p:nvSpPr>
            <p:cNvPr id="162" name="Google Shape;162;p17"/>
            <p:cNvSpPr/>
            <p:nvPr/>
          </p:nvSpPr>
          <p:spPr>
            <a:xfrm>
              <a:off x="5263075" y="2238848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5305376" y="2550869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5305374" y="2238850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62764" y="3946328"/>
            <a:ext cx="1850041" cy="2269907"/>
            <a:chOff x="5119300" y="3450025"/>
            <a:chExt cx="2148213" cy="2635749"/>
          </a:xfrm>
        </p:grpSpPr>
        <p:pic>
          <p:nvPicPr>
            <p:cNvPr id="166" name="Google Shape;166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8" name="Google Shape;168;p17"/>
          <p:cNvCxnSpPr/>
          <p:nvPr/>
        </p:nvCxnSpPr>
        <p:spPr>
          <a:xfrm>
            <a:off x="826950" y="410450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9" name="Google Shape;169;p17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 rot="10800000" flipH="1">
            <a:off x="6043226" y="4157321"/>
            <a:ext cx="4775101" cy="253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7851750" y="3840111"/>
            <a:ext cx="2344349" cy="234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2"/>
          <p:cNvGrpSpPr/>
          <p:nvPr/>
        </p:nvGrpSpPr>
        <p:grpSpPr>
          <a:xfrm rot="10800000" flipH="1">
            <a:off x="4920600" y="-1385777"/>
            <a:ext cx="5313368" cy="5145951"/>
            <a:chOff x="5263075" y="2238848"/>
            <a:chExt cx="5313368" cy="5145951"/>
          </a:xfrm>
        </p:grpSpPr>
        <p:sp>
          <p:nvSpPr>
            <p:cNvPr id="229" name="Google Shape;229;p22"/>
            <p:cNvSpPr/>
            <p:nvPr/>
          </p:nvSpPr>
          <p:spPr>
            <a:xfrm>
              <a:off x="5263075" y="2238848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5305376" y="2550869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5305374" y="2238850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-360073" y="3617453"/>
            <a:ext cx="1850041" cy="2269907"/>
            <a:chOff x="5119300" y="3450025"/>
            <a:chExt cx="2148213" cy="2635749"/>
          </a:xfrm>
        </p:grpSpPr>
        <p:pic>
          <p:nvPicPr>
            <p:cNvPr id="233" name="Google Shape;233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oogle Shape;235;p22"/>
          <p:cNvGrpSpPr/>
          <p:nvPr/>
        </p:nvGrpSpPr>
        <p:grpSpPr>
          <a:xfrm>
            <a:off x="7270851" y="4026546"/>
            <a:ext cx="4775101" cy="2539096"/>
            <a:chOff x="6835801" y="3991421"/>
            <a:chExt cx="4775101" cy="2539096"/>
          </a:xfrm>
        </p:grpSpPr>
        <p:pic>
          <p:nvPicPr>
            <p:cNvPr id="236" name="Google Shape;236;p22"/>
            <p:cNvPicPr preferRelativeResize="0"/>
            <p:nvPr/>
          </p:nvPicPr>
          <p:blipFill>
            <a:blip r:embed="rId3">
              <a:alphaModFix amt="21000"/>
            </a:blip>
            <a:stretch>
              <a:fillRect/>
            </a:stretch>
          </p:blipFill>
          <p:spPr>
            <a:xfrm rot="10800000" flipH="1">
              <a:off x="6835801" y="3991421"/>
              <a:ext cx="4775101" cy="2539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2"/>
            <p:cNvPicPr preferRelativeResize="0"/>
            <p:nvPr/>
          </p:nvPicPr>
          <p:blipFill>
            <a:blip r:embed="rId4">
              <a:alphaModFix amt="79000"/>
            </a:blip>
            <a:stretch>
              <a:fillRect/>
            </a:stretch>
          </p:blipFill>
          <p:spPr>
            <a:xfrm>
              <a:off x="7501325" y="4109461"/>
              <a:ext cx="2344349" cy="23462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3"/>
          <p:cNvGrpSpPr/>
          <p:nvPr/>
        </p:nvGrpSpPr>
        <p:grpSpPr>
          <a:xfrm>
            <a:off x="-970487" y="-1187950"/>
            <a:ext cx="2148213" cy="2635749"/>
            <a:chOff x="5119300" y="3450025"/>
            <a:chExt cx="2148213" cy="2635749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3"/>
          <p:cNvPicPr preferRelativeResize="0"/>
          <p:nvPr/>
        </p:nvPicPr>
        <p:blipFill rotWithShape="1">
          <a:blip r:embed="rId3">
            <a:alphaModFix amt="21000"/>
          </a:blip>
          <a:srcRect l="55931"/>
          <a:stretch/>
        </p:blipFill>
        <p:spPr>
          <a:xfrm>
            <a:off x="-40749" y="-63300"/>
            <a:ext cx="2104300" cy="2539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3"/>
          <p:cNvGrpSpPr/>
          <p:nvPr/>
        </p:nvGrpSpPr>
        <p:grpSpPr>
          <a:xfrm>
            <a:off x="-1672050" y="720473"/>
            <a:ext cx="5313368" cy="5145951"/>
            <a:chOff x="-1900650" y="720473"/>
            <a:chExt cx="5313368" cy="5145951"/>
          </a:xfrm>
        </p:grpSpPr>
        <p:sp>
          <p:nvSpPr>
            <p:cNvPr id="244" name="Google Shape;244;p23"/>
            <p:cNvSpPr/>
            <p:nvPr/>
          </p:nvSpPr>
          <p:spPr>
            <a:xfrm flipH="1">
              <a:off x="-1591278" y="72047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 flipH="1">
              <a:off x="-1633468" y="103249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 flipH="1">
              <a:off x="-1900650" y="72047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23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-551550" y="-574739"/>
            <a:ext cx="2344349" cy="234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"/>
              <a:buNone/>
              <a:defRPr sz="28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63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7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5016526" y="-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7"/>
          <p:cNvGrpSpPr/>
          <p:nvPr/>
        </p:nvGrpSpPr>
        <p:grpSpPr>
          <a:xfrm>
            <a:off x="4326600" y="455623"/>
            <a:ext cx="5313368" cy="5145951"/>
            <a:chOff x="4326600" y="455623"/>
            <a:chExt cx="5313368" cy="5145951"/>
          </a:xfrm>
        </p:grpSpPr>
        <p:sp>
          <p:nvSpPr>
            <p:cNvPr id="260" name="Google Shape;260;p27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3" name="Google Shape;263;p27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6901250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8223250" y="2258697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7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7371075" y="4239897"/>
            <a:ext cx="2344349" cy="2346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7"/>
          <p:cNvGrpSpPr/>
          <p:nvPr/>
        </p:nvGrpSpPr>
        <p:grpSpPr>
          <a:xfrm>
            <a:off x="5119300" y="3450025"/>
            <a:ext cx="2148213" cy="2635749"/>
            <a:chOff x="5119300" y="3450025"/>
            <a:chExt cx="2148213" cy="2635749"/>
          </a:xfrm>
        </p:grpSpPr>
        <p:pic>
          <p:nvPicPr>
            <p:cNvPr id="267" name="Google Shape;267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27"/>
          <p:cNvGrpSpPr/>
          <p:nvPr/>
        </p:nvGrpSpPr>
        <p:grpSpPr>
          <a:xfrm>
            <a:off x="5930325" y="427425"/>
            <a:ext cx="2148213" cy="2635749"/>
            <a:chOff x="5119300" y="3450025"/>
            <a:chExt cx="2148213" cy="2635749"/>
          </a:xfrm>
        </p:grpSpPr>
        <p:pic>
          <p:nvPicPr>
            <p:cNvPr id="270" name="Google Shape;270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27"/>
          <p:cNvGrpSpPr/>
          <p:nvPr/>
        </p:nvGrpSpPr>
        <p:grpSpPr>
          <a:xfrm>
            <a:off x="-394425" y="3291775"/>
            <a:ext cx="2148213" cy="2635749"/>
            <a:chOff x="5119300" y="3450025"/>
            <a:chExt cx="2148213" cy="2635749"/>
          </a:xfrm>
        </p:grpSpPr>
        <p:pic>
          <p:nvPicPr>
            <p:cNvPr id="273" name="Google Shape;273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" name="Google Shape;275;p27"/>
          <p:cNvSpPr txBox="1">
            <a:spLocks noGrp="1"/>
          </p:cNvSpPr>
          <p:nvPr>
            <p:ph type="ctrTitle"/>
          </p:nvPr>
        </p:nvSpPr>
        <p:spPr>
          <a:xfrm>
            <a:off x="713225" y="1068375"/>
            <a:ext cx="52599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Angular</a:t>
            </a:r>
            <a:endParaRPr b="1" dirty="0"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1"/>
          </p:nvPr>
        </p:nvSpPr>
        <p:spPr>
          <a:xfrm>
            <a:off x="713225" y="3105625"/>
            <a:ext cx="3152344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Изготвено от: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ym typeface="Work Sans"/>
              </a:rPr>
              <a:t>Иван Станев 2101681043</a:t>
            </a:r>
            <a:endParaRPr dirty="0">
              <a:sym typeface="Work Sans"/>
            </a:endParaRPr>
          </a:p>
        </p:txBody>
      </p:sp>
      <p:cxnSp>
        <p:nvCxnSpPr>
          <p:cNvPr id="277" name="Google Shape;277;p27"/>
          <p:cNvCxnSpPr/>
          <p:nvPr/>
        </p:nvCxnSpPr>
        <p:spPr>
          <a:xfrm>
            <a:off x="793050" y="924800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132900" y="2408450"/>
            <a:ext cx="4301100" cy="16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Какво е </a:t>
            </a:r>
            <a:r>
              <a:rPr lang="en-US" b="1" dirty="0"/>
              <a:t>Angular</a:t>
            </a:r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132900" y="1285925"/>
            <a:ext cx="1450800" cy="10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 flipH="1">
            <a:off x="-532853" y="-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1"/>
          <p:cNvGrpSpPr/>
          <p:nvPr/>
        </p:nvGrpSpPr>
        <p:grpSpPr>
          <a:xfrm flipH="1">
            <a:off x="-914594" y="455623"/>
            <a:ext cx="5313368" cy="5145951"/>
            <a:chOff x="4326600" y="455623"/>
            <a:chExt cx="5313368" cy="5145951"/>
          </a:xfrm>
        </p:grpSpPr>
        <p:sp>
          <p:nvSpPr>
            <p:cNvPr id="325" name="Google Shape;325;p31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13175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1613625" y="2334897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761450" y="4316097"/>
            <a:ext cx="2344349" cy="2346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31"/>
          <p:cNvGrpSpPr/>
          <p:nvPr/>
        </p:nvGrpSpPr>
        <p:grpSpPr>
          <a:xfrm>
            <a:off x="829212" y="3202375"/>
            <a:ext cx="2148213" cy="2635749"/>
            <a:chOff x="5119300" y="3450025"/>
            <a:chExt cx="2148213" cy="2635749"/>
          </a:xfrm>
        </p:grpSpPr>
        <p:pic>
          <p:nvPicPr>
            <p:cNvPr id="332" name="Google Shape;33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31"/>
          <p:cNvGrpSpPr/>
          <p:nvPr/>
        </p:nvGrpSpPr>
        <p:grpSpPr>
          <a:xfrm>
            <a:off x="713237" y="-471975"/>
            <a:ext cx="2148213" cy="2635749"/>
            <a:chOff x="5119300" y="3450025"/>
            <a:chExt cx="2148213" cy="2635749"/>
          </a:xfrm>
        </p:grpSpPr>
        <p:pic>
          <p:nvPicPr>
            <p:cNvPr id="335" name="Google Shape;33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31"/>
          <p:cNvGrpSpPr/>
          <p:nvPr/>
        </p:nvGrpSpPr>
        <p:grpSpPr>
          <a:xfrm>
            <a:off x="6628687" y="-1270700"/>
            <a:ext cx="2148213" cy="2635749"/>
            <a:chOff x="5119300" y="3450025"/>
            <a:chExt cx="2148213" cy="2635749"/>
          </a:xfrm>
        </p:grpSpPr>
        <p:pic>
          <p:nvPicPr>
            <p:cNvPr id="338" name="Google Shape;338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0" name="Google Shape;340;p31"/>
          <p:cNvCxnSpPr/>
          <p:nvPr/>
        </p:nvCxnSpPr>
        <p:spPr>
          <a:xfrm>
            <a:off x="4256175" y="117972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2553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600" dirty="0"/>
              <a:t>Angular </a:t>
            </a:r>
            <a:r>
              <a:rPr lang="bg-BG" sz="1600" dirty="0"/>
              <a:t>е </a:t>
            </a:r>
            <a:r>
              <a:rPr lang="en-US" sz="1600" dirty="0"/>
              <a:t>open-source </a:t>
            </a:r>
            <a:r>
              <a:rPr lang="bg-BG" sz="1600" dirty="0"/>
              <a:t>фреймуърк за създаване на клиентски апликации създаден от </a:t>
            </a:r>
            <a:r>
              <a:rPr lang="en-US" sz="1600" dirty="0"/>
              <a:t>Google</a:t>
            </a:r>
            <a:r>
              <a:rPr lang="bg-BG" sz="1600" dirty="0"/>
              <a:t> през 2010</a:t>
            </a:r>
            <a:r>
              <a:rPr lang="en-US" sz="1600" dirty="0"/>
              <a:t>.</a:t>
            </a:r>
            <a:r>
              <a:rPr lang="bg-BG" sz="1600" dirty="0"/>
              <a:t> Той е базиран на </a:t>
            </a:r>
            <a:r>
              <a:rPr lang="en-US" sz="1600" dirty="0"/>
              <a:t>TypeScript</a:t>
            </a:r>
            <a:r>
              <a:rPr lang="bg-BG" sz="1600" dirty="0"/>
              <a:t> и</a:t>
            </a:r>
            <a:r>
              <a:rPr lang="en-US" sz="1600" dirty="0"/>
              <a:t> </a:t>
            </a:r>
          </a:p>
          <a:p>
            <a:pPr marL="0" lvl="0" indent="0">
              <a:buSzPts val="1100"/>
              <a:buNone/>
            </a:pPr>
            <a:r>
              <a:rPr lang="ru-RU" sz="1600" dirty="0"/>
              <a:t>предоставя широка гама от инструменти, API-та и библиотеки, които опростяват и усъвършенстват работния процес по време на  разработката. </a:t>
            </a:r>
            <a:endParaRPr lang="bg-BG" sz="1600" dirty="0"/>
          </a:p>
        </p:txBody>
      </p:sp>
      <p:pic>
        <p:nvPicPr>
          <p:cNvPr id="310" name="Google Shape;310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22304" t="1926" r="22026" b="784"/>
          <a:stretch/>
        </p:blipFill>
        <p:spPr>
          <a:xfrm>
            <a:off x="4763589" y="-1"/>
            <a:ext cx="4380411" cy="5143497"/>
          </a:xfrm>
          <a:prstGeom prst="rect">
            <a:avLst/>
          </a:prstGeom>
        </p:spPr>
      </p:pic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132900" y="2126068"/>
            <a:ext cx="3594548" cy="8251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Структура </a:t>
            </a:r>
            <a:endParaRPr lang="en-US" b="1"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132900" y="1285925"/>
            <a:ext cx="1450800" cy="10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2</a:t>
            </a:r>
            <a:endParaRPr dirty="0"/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 flipH="1">
            <a:off x="-532853" y="-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1"/>
          <p:cNvGrpSpPr/>
          <p:nvPr/>
        </p:nvGrpSpPr>
        <p:grpSpPr>
          <a:xfrm flipH="1">
            <a:off x="-914594" y="455623"/>
            <a:ext cx="5313368" cy="5145951"/>
            <a:chOff x="4326600" y="455623"/>
            <a:chExt cx="5313368" cy="5145951"/>
          </a:xfrm>
        </p:grpSpPr>
        <p:sp>
          <p:nvSpPr>
            <p:cNvPr id="325" name="Google Shape;325;p31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13175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1613625" y="2334897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761450" y="4316097"/>
            <a:ext cx="2344349" cy="2346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31"/>
          <p:cNvGrpSpPr/>
          <p:nvPr/>
        </p:nvGrpSpPr>
        <p:grpSpPr>
          <a:xfrm>
            <a:off x="829212" y="3202375"/>
            <a:ext cx="2148213" cy="2635749"/>
            <a:chOff x="5119300" y="3450025"/>
            <a:chExt cx="2148213" cy="2635749"/>
          </a:xfrm>
        </p:grpSpPr>
        <p:pic>
          <p:nvPicPr>
            <p:cNvPr id="332" name="Google Shape;33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31"/>
          <p:cNvGrpSpPr/>
          <p:nvPr/>
        </p:nvGrpSpPr>
        <p:grpSpPr>
          <a:xfrm>
            <a:off x="713237" y="-471975"/>
            <a:ext cx="2148213" cy="2635749"/>
            <a:chOff x="5119300" y="3450025"/>
            <a:chExt cx="2148213" cy="2635749"/>
          </a:xfrm>
        </p:grpSpPr>
        <p:pic>
          <p:nvPicPr>
            <p:cNvPr id="335" name="Google Shape;33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31"/>
          <p:cNvGrpSpPr/>
          <p:nvPr/>
        </p:nvGrpSpPr>
        <p:grpSpPr>
          <a:xfrm>
            <a:off x="6628687" y="-1270700"/>
            <a:ext cx="2148213" cy="2635749"/>
            <a:chOff x="5119300" y="3450025"/>
            <a:chExt cx="2148213" cy="2635749"/>
          </a:xfrm>
        </p:grpSpPr>
        <p:pic>
          <p:nvPicPr>
            <p:cNvPr id="338" name="Google Shape;338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0" name="Google Shape;340;p31"/>
          <p:cNvCxnSpPr/>
          <p:nvPr/>
        </p:nvCxnSpPr>
        <p:spPr>
          <a:xfrm>
            <a:off x="4256175" y="117972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8505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C191D7-FFF7-434C-8E77-AE6EE9862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304" y="1572221"/>
            <a:ext cx="3933825" cy="2933700"/>
          </a:xfrm>
          <a:prstGeom prst="rect">
            <a:avLst/>
          </a:prstGeom>
        </p:spPr>
      </p:pic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2553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sz="1600" dirty="0"/>
              <a:t>Angular </a:t>
            </a:r>
            <a:r>
              <a:rPr lang="bg-BG" sz="1600" dirty="0"/>
              <a:t>разделя отделните части от по-голямата уеб страница на компоненти. Тези компоненти са основната градивна единица на фреймуърка. Те позволяват ясното разграничаване на кода на специфични части което улеснява подържането и разширяването им. Всеки компонент се състои от четири основни части. </a:t>
            </a:r>
          </a:p>
          <a:p>
            <a:pPr marL="0" lvl="0" indent="0">
              <a:buSzPts val="1100"/>
              <a:buNone/>
            </a:pPr>
            <a:r>
              <a:rPr lang="bg-BG" sz="1600" dirty="0"/>
              <a:t>  </a:t>
            </a:r>
          </a:p>
        </p:txBody>
      </p:sp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00DF93-F2A1-4897-837C-684C3886D550}"/>
              </a:ext>
            </a:extLst>
          </p:cNvPr>
          <p:cNvSpPr txBox="1"/>
          <p:nvPr/>
        </p:nvSpPr>
        <p:spPr>
          <a:xfrm>
            <a:off x="5183643" y="1295222"/>
            <a:ext cx="3783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000" dirty="0"/>
              <a:t>На тази фигура е показа примерна структура на приложение за потребителски профил създадено от четири компонента</a:t>
            </a:r>
          </a:p>
          <a:p>
            <a:r>
              <a:rPr lang="bg-B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14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3703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sz="1600" dirty="0"/>
              <a:t>Component decorator- той съдържа информация която се използа от </a:t>
            </a:r>
            <a:r>
              <a:rPr lang="en-US" sz="1600" dirty="0"/>
              <a:t>Angular </a:t>
            </a:r>
            <a:endParaRPr lang="bg-BG" sz="1600" dirty="0"/>
          </a:p>
          <a:p>
            <a:pPr lvl="0"/>
            <a:r>
              <a:rPr lang="en-US" sz="1600" dirty="0"/>
              <a:t>HTML template</a:t>
            </a:r>
            <a:r>
              <a:rPr lang="bg-BG" sz="1600" dirty="0"/>
              <a:t> – той указва какво да се визуализира на домейна</a:t>
            </a:r>
          </a:p>
          <a:p>
            <a:pPr lvl="0"/>
            <a:r>
              <a:rPr lang="en-US" sz="1600" dirty="0"/>
              <a:t>CSS selector –</a:t>
            </a:r>
            <a:r>
              <a:rPr lang="bg-BG" sz="1600" dirty="0"/>
              <a:t> той указва как да изглеждат различните </a:t>
            </a:r>
            <a:r>
              <a:rPr lang="en-US" sz="1600" dirty="0"/>
              <a:t>HTML </a:t>
            </a:r>
            <a:r>
              <a:rPr lang="bg-BG" sz="1600" dirty="0"/>
              <a:t>компоненти</a:t>
            </a:r>
          </a:p>
          <a:p>
            <a:pPr lvl="0"/>
            <a:r>
              <a:rPr lang="en-US" sz="1600" dirty="0"/>
              <a:t>TypeScript class</a:t>
            </a:r>
            <a:r>
              <a:rPr lang="bg-BG" sz="1600" dirty="0"/>
              <a:t> – той отговаря за поведението на компонента, например как той обработва потребителски данни или как извършва заявки към сървара </a:t>
            </a:r>
          </a:p>
          <a:p>
            <a:pPr marL="0" indent="0">
              <a:buSzPts val="1100"/>
              <a:buNone/>
            </a:pPr>
            <a:r>
              <a:rPr lang="bg-BG" sz="1600" dirty="0"/>
              <a:t>  </a:t>
            </a:r>
          </a:p>
        </p:txBody>
      </p:sp>
      <p:pic>
        <p:nvPicPr>
          <p:cNvPr id="310" name="Google Shape;310;p30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4763589" y="0"/>
            <a:ext cx="4380411" cy="3410903"/>
          </a:xfrm>
          <a:prstGeom prst="rect">
            <a:avLst/>
          </a:prstGeom>
        </p:spPr>
      </p:pic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3531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132899" y="2126068"/>
            <a:ext cx="4028968" cy="8251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Библиотеки </a:t>
            </a:r>
            <a:endParaRPr lang="en-US" b="1"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132900" y="1285925"/>
            <a:ext cx="1450800" cy="10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3</a:t>
            </a:r>
            <a:endParaRPr dirty="0"/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 flipH="1">
            <a:off x="-532853" y="-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1"/>
          <p:cNvGrpSpPr/>
          <p:nvPr/>
        </p:nvGrpSpPr>
        <p:grpSpPr>
          <a:xfrm flipH="1">
            <a:off x="-914594" y="455623"/>
            <a:ext cx="5313368" cy="5145951"/>
            <a:chOff x="4326600" y="455623"/>
            <a:chExt cx="5313368" cy="5145951"/>
          </a:xfrm>
        </p:grpSpPr>
        <p:sp>
          <p:nvSpPr>
            <p:cNvPr id="325" name="Google Shape;325;p31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13175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1613625" y="2334897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761450" y="4316097"/>
            <a:ext cx="2344349" cy="2346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31"/>
          <p:cNvGrpSpPr/>
          <p:nvPr/>
        </p:nvGrpSpPr>
        <p:grpSpPr>
          <a:xfrm>
            <a:off x="829212" y="3202375"/>
            <a:ext cx="2148213" cy="2635749"/>
            <a:chOff x="5119300" y="3450025"/>
            <a:chExt cx="2148213" cy="2635749"/>
          </a:xfrm>
        </p:grpSpPr>
        <p:pic>
          <p:nvPicPr>
            <p:cNvPr id="332" name="Google Shape;33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31"/>
          <p:cNvGrpSpPr/>
          <p:nvPr/>
        </p:nvGrpSpPr>
        <p:grpSpPr>
          <a:xfrm>
            <a:off x="713237" y="-471975"/>
            <a:ext cx="2148213" cy="2635749"/>
            <a:chOff x="5119300" y="3450025"/>
            <a:chExt cx="2148213" cy="2635749"/>
          </a:xfrm>
        </p:grpSpPr>
        <p:pic>
          <p:nvPicPr>
            <p:cNvPr id="335" name="Google Shape;33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31"/>
          <p:cNvGrpSpPr/>
          <p:nvPr/>
        </p:nvGrpSpPr>
        <p:grpSpPr>
          <a:xfrm>
            <a:off x="6628687" y="-1270700"/>
            <a:ext cx="2148213" cy="2635749"/>
            <a:chOff x="5119300" y="3450025"/>
            <a:chExt cx="2148213" cy="2635749"/>
          </a:xfrm>
        </p:grpSpPr>
        <p:pic>
          <p:nvPicPr>
            <p:cNvPr id="338" name="Google Shape;338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0" name="Google Shape;340;p31"/>
          <p:cNvCxnSpPr/>
          <p:nvPr/>
        </p:nvCxnSpPr>
        <p:spPr>
          <a:xfrm>
            <a:off x="4256175" y="117972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045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4572000" y="1032266"/>
            <a:ext cx="4572000" cy="2753227"/>
          </a:xfrm>
          <a:prstGeom prst="rect">
            <a:avLst/>
          </a:prstGeom>
        </p:spPr>
      </p:pic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2553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bg-BG" sz="1600" dirty="0"/>
              <a:t>Освен голямата к</a:t>
            </a:r>
            <a:r>
              <a:rPr lang="ru-RU" sz="1600" dirty="0"/>
              <a:t>олекция от интегрирани библиотеки, които покриват множество функции като например комуникация клиент-сървър, маршрутизация, управление на формуляри, и др. </a:t>
            </a:r>
            <a:r>
              <a:rPr lang="en-US" sz="1600" dirty="0"/>
              <a:t>Angular</a:t>
            </a:r>
            <a:r>
              <a:rPr lang="bg-BG" sz="1600" dirty="0"/>
              <a:t> позовлява добавянето на множество външни библиотеки</a:t>
            </a:r>
            <a:r>
              <a:rPr lang="en-US" sz="1600" dirty="0"/>
              <a:t> </a:t>
            </a:r>
            <a:r>
              <a:rPr lang="bg-BG" sz="1600" dirty="0"/>
              <a:t>чрез командата:</a:t>
            </a:r>
          </a:p>
          <a:p>
            <a:pPr marL="0" lvl="0" indent="0">
              <a:buSzPts val="1100"/>
              <a:buNone/>
            </a:pPr>
            <a:r>
              <a:rPr lang="en-US" sz="1600" dirty="0"/>
              <a:t>ng add @angular/cli</a:t>
            </a:r>
          </a:p>
          <a:p>
            <a:pPr marL="0" lvl="0" indent="0">
              <a:buSzPts val="1100"/>
              <a:buNone/>
            </a:pPr>
            <a:endParaRPr lang="ru-RU" sz="1600" dirty="0"/>
          </a:p>
        </p:txBody>
      </p:sp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6694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subTitle" idx="4"/>
          </p:nvPr>
        </p:nvSpPr>
        <p:spPr>
          <a:xfrm>
            <a:off x="814825" y="555100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RxJS</a:t>
            </a:r>
            <a:endParaRPr dirty="0"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5"/>
          </p:nvPr>
        </p:nvSpPr>
        <p:spPr>
          <a:xfrm>
            <a:off x="3361304" y="555100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Angular Material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814825" y="1175850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Е библиотека за реактивно програмиране, използвана масово в Angular за Observable-и.</a:t>
            </a:r>
            <a:endParaRPr dirty="0"/>
          </a:p>
        </p:txBody>
      </p:sp>
      <p:sp>
        <p:nvSpPr>
          <p:cNvPr id="370" name="Google Shape;370;p33"/>
          <p:cNvSpPr txBox="1">
            <a:spLocks noGrp="1"/>
          </p:cNvSpPr>
          <p:nvPr>
            <p:ph type="subTitle" idx="2"/>
          </p:nvPr>
        </p:nvSpPr>
        <p:spPr>
          <a:xfrm>
            <a:off x="3361300" y="1175850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Angular Material </a:t>
            </a:r>
            <a:r>
              <a:rPr lang="bg-BG" dirty="0"/>
              <a:t>е библиотека с готови </a:t>
            </a:r>
            <a:r>
              <a:rPr lang="en-US" dirty="0"/>
              <a:t>UI </a:t>
            </a:r>
            <a:r>
              <a:rPr lang="bg-BG" dirty="0"/>
              <a:t>компоненти, създадени по правилата на </a:t>
            </a:r>
            <a:r>
              <a:rPr lang="en-US" dirty="0"/>
              <a:t>Material Design (</a:t>
            </a:r>
            <a:r>
              <a:rPr lang="bg-BG" dirty="0"/>
              <a:t>дизайн език на </a:t>
            </a:r>
            <a:r>
              <a:rPr lang="en-US" dirty="0"/>
              <a:t>Google).</a:t>
            </a:r>
            <a:endParaRPr dirty="0"/>
          </a:p>
        </p:txBody>
      </p:sp>
      <p:sp>
        <p:nvSpPr>
          <p:cNvPr id="371" name="Google Shape;371;p33"/>
          <p:cNvSpPr txBox="1">
            <a:spLocks noGrp="1"/>
          </p:cNvSpPr>
          <p:nvPr>
            <p:ph type="subTitle" idx="3"/>
          </p:nvPr>
        </p:nvSpPr>
        <p:spPr>
          <a:xfrm>
            <a:off x="5908125" y="1175850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NgRx е библиотека за управление на състоянието (state management) в Angular приложения. Използва концепции от Redux</a:t>
            </a:r>
            <a:endParaRPr dirty="0"/>
          </a:p>
        </p:txBody>
      </p:sp>
      <p:sp>
        <p:nvSpPr>
          <p:cNvPr id="372" name="Google Shape;372;p33"/>
          <p:cNvSpPr txBox="1">
            <a:spLocks noGrp="1"/>
          </p:cNvSpPr>
          <p:nvPr>
            <p:ph type="subTitle" idx="6"/>
          </p:nvPr>
        </p:nvSpPr>
        <p:spPr>
          <a:xfrm>
            <a:off x="5908125" y="555100"/>
            <a:ext cx="2583942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NgRx</a:t>
            </a:r>
            <a:r>
              <a:rPr lang="en-US" dirty="0"/>
              <a:t> (Angular Redux)</a:t>
            </a:r>
            <a:endParaRPr dirty="0"/>
          </a:p>
        </p:txBody>
      </p:sp>
      <p:pic>
        <p:nvPicPr>
          <p:cNvPr id="18" name="Picture 5" descr="Source: Angular Material">
            <a:extLst>
              <a:ext uri="{FF2B5EF4-FFF2-40B4-BE49-F238E27FC236}">
                <a16:creationId xmlns:a16="http://schemas.microsoft.com/office/drawing/2014/main" id="{E6A15E37-EA5B-4F7E-9B30-879B4F650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2"/>
          <a:stretch/>
        </p:blipFill>
        <p:spPr bwMode="auto">
          <a:xfrm>
            <a:off x="3361199" y="2664800"/>
            <a:ext cx="2280701" cy="110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C24D40-1F80-488F-B4B2-03779FEBE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74" y="2577665"/>
            <a:ext cx="2280600" cy="1277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046E79-BB1B-4920-853F-91A68E569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125" y="2606762"/>
            <a:ext cx="2280600" cy="12189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132900" y="2983685"/>
            <a:ext cx="4852977" cy="8251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Моето приложение</a:t>
            </a:r>
            <a:endParaRPr lang="en-US" b="1"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132900" y="1285925"/>
            <a:ext cx="1450800" cy="10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4</a:t>
            </a:r>
            <a:endParaRPr dirty="0"/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 flipH="1">
            <a:off x="-532853" y="-4"/>
            <a:ext cx="4775101" cy="2539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1"/>
          <p:cNvGrpSpPr/>
          <p:nvPr/>
        </p:nvGrpSpPr>
        <p:grpSpPr>
          <a:xfrm flipH="1">
            <a:off x="-914594" y="455623"/>
            <a:ext cx="5313368" cy="5145951"/>
            <a:chOff x="4326600" y="455623"/>
            <a:chExt cx="5313368" cy="5145951"/>
          </a:xfrm>
        </p:grpSpPr>
        <p:sp>
          <p:nvSpPr>
            <p:cNvPr id="325" name="Google Shape;325;p31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13175" y="-1318753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1613625" y="2334897"/>
            <a:ext cx="2344349" cy="234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flipH="1">
            <a:off x="-761450" y="4316097"/>
            <a:ext cx="2344349" cy="2346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31"/>
          <p:cNvGrpSpPr/>
          <p:nvPr/>
        </p:nvGrpSpPr>
        <p:grpSpPr>
          <a:xfrm>
            <a:off x="829212" y="3202375"/>
            <a:ext cx="2148213" cy="2635749"/>
            <a:chOff x="5119300" y="3450025"/>
            <a:chExt cx="2148213" cy="2635749"/>
          </a:xfrm>
        </p:grpSpPr>
        <p:pic>
          <p:nvPicPr>
            <p:cNvPr id="332" name="Google Shape;33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31"/>
          <p:cNvGrpSpPr/>
          <p:nvPr/>
        </p:nvGrpSpPr>
        <p:grpSpPr>
          <a:xfrm>
            <a:off x="713237" y="-471975"/>
            <a:ext cx="2148213" cy="2635749"/>
            <a:chOff x="5119300" y="3450025"/>
            <a:chExt cx="2148213" cy="2635749"/>
          </a:xfrm>
        </p:grpSpPr>
        <p:pic>
          <p:nvPicPr>
            <p:cNvPr id="335" name="Google Shape;33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31"/>
          <p:cNvGrpSpPr/>
          <p:nvPr/>
        </p:nvGrpSpPr>
        <p:grpSpPr>
          <a:xfrm>
            <a:off x="6628687" y="-1270700"/>
            <a:ext cx="2148213" cy="2635749"/>
            <a:chOff x="5119300" y="3450025"/>
            <a:chExt cx="2148213" cy="2635749"/>
          </a:xfrm>
        </p:grpSpPr>
        <p:pic>
          <p:nvPicPr>
            <p:cNvPr id="338" name="Google Shape;338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19300" y="3450025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6500" y="4392300"/>
              <a:ext cx="1691013" cy="16934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0" name="Google Shape;340;p31"/>
          <p:cNvCxnSpPr/>
          <p:nvPr/>
        </p:nvCxnSpPr>
        <p:spPr>
          <a:xfrm>
            <a:off x="4256175" y="117972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28095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708C46-8B03-4255-B566-D0C1B189B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258" y="1208095"/>
            <a:ext cx="2365453" cy="3164098"/>
          </a:xfrm>
          <a:prstGeom prst="rect">
            <a:avLst/>
          </a:prstGeom>
        </p:spPr>
      </p:pic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3363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ru-RU" sz="1600" dirty="0"/>
              <a:t>Моето приложение е малка игра в която играчът се опитва да познае дали следващото число което се появи на екрана ще е по-малко или по-голямо от предходното. С помоща на Angular много лесно променяме диманично съдържането на страницата за да визуализираме играта. В този пример съм използвал интерполация който е един от основните принципи използвани в фреймуърка.</a:t>
            </a:r>
            <a:r>
              <a:rPr lang="bg-BG" sz="1600" dirty="0"/>
              <a:t>  </a:t>
            </a:r>
          </a:p>
        </p:txBody>
      </p:sp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28348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79974" y="1382743"/>
            <a:ext cx="3858900" cy="3363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bg-BG" sz="1600" dirty="0"/>
              <a:t>За направата на приложението съм използвал три основни функции които се грижат за логиката на играта и за взаимодействията с играча. Едина от тези функции е </a:t>
            </a:r>
            <a:r>
              <a:rPr lang="ru-RU" sz="1600" dirty="0"/>
              <a:t>newGame() която има следният вид</a:t>
            </a:r>
            <a:endParaRPr lang="bg-BG" sz="1600" dirty="0"/>
          </a:p>
        </p:txBody>
      </p:sp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3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31" name="Picture 6">
            <a:extLst>
              <a:ext uri="{FF2B5EF4-FFF2-40B4-BE49-F238E27FC236}">
                <a16:creationId xmlns:a16="http://schemas.microsoft.com/office/drawing/2014/main" id="{18290DFB-8F5E-4845-AE66-DC72913E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74" y="3300310"/>
            <a:ext cx="570547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1B2726E3-D845-4F05-8539-DFFC36DD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51" y="46370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bg-BG" altLang="bg-B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Google Shape;309;p30">
            <a:extLst>
              <a:ext uri="{FF2B5EF4-FFF2-40B4-BE49-F238E27FC236}">
                <a16:creationId xmlns:a16="http://schemas.microsoft.com/office/drawing/2014/main" id="{51DA2E53-B563-4CCB-BA4D-0F9F34B6FA69}"/>
              </a:ext>
            </a:extLst>
          </p:cNvPr>
          <p:cNvSpPr txBox="1">
            <a:spLocks/>
          </p:cNvSpPr>
          <p:nvPr/>
        </p:nvSpPr>
        <p:spPr>
          <a:xfrm>
            <a:off x="4698298" y="1382743"/>
            <a:ext cx="3858900" cy="336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indent="0">
              <a:buSzPts val="1100"/>
              <a:buNone/>
            </a:pPr>
            <a:r>
              <a:rPr lang="bg-BG" sz="1600" dirty="0"/>
              <a:t>С помоца на вградената функция </a:t>
            </a:r>
            <a:r>
              <a:rPr lang="en-US" sz="1600" dirty="0" err="1"/>
              <a:t>ngOnInit</a:t>
            </a:r>
            <a:r>
              <a:rPr lang="en-US" sz="1600" dirty="0"/>
              <a:t>() </a:t>
            </a:r>
            <a:r>
              <a:rPr lang="bg-BG" sz="1600" dirty="0"/>
              <a:t>извикваме функцията </a:t>
            </a:r>
            <a:r>
              <a:rPr lang="en-US" sz="1600" dirty="0" err="1"/>
              <a:t>newGame</a:t>
            </a:r>
            <a:r>
              <a:rPr lang="bg-BG" sz="1600" dirty="0"/>
              <a:t>() при първоначалното зареждане на страницата. Самата функция задава стойности на променливите които използваме и следи за резултата на играча.</a:t>
            </a:r>
          </a:p>
        </p:txBody>
      </p:sp>
    </p:spTree>
    <p:extLst>
      <p:ext uri="{BB962C8B-B14F-4D97-AF65-F5344CB8AC3E}">
        <p14:creationId xmlns:p14="http://schemas.microsoft.com/office/powerpoint/2010/main" val="140787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subTitle" idx="4"/>
          </p:nvPr>
        </p:nvSpPr>
        <p:spPr>
          <a:xfrm>
            <a:off x="814825" y="555100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HTML</a:t>
            </a:r>
            <a:endParaRPr dirty="0"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5"/>
          </p:nvPr>
        </p:nvSpPr>
        <p:spPr>
          <a:xfrm>
            <a:off x="3361304" y="555100"/>
            <a:ext cx="228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isGuessLower</a:t>
            </a:r>
            <a:r>
              <a:rPr lang="en-US" dirty="0"/>
              <a:t>()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814374" y="1175850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/>
              <a:t>Това е </a:t>
            </a:r>
            <a:r>
              <a:rPr lang="en-US" dirty="0"/>
              <a:t>HTML</a:t>
            </a:r>
            <a:r>
              <a:rPr lang="bg-BG" dirty="0"/>
              <a:t> часта в която с помоща на оператори </a:t>
            </a:r>
            <a:r>
              <a:rPr lang="en-US" dirty="0"/>
              <a:t>if </a:t>
            </a:r>
            <a:r>
              <a:rPr lang="bg-BG" dirty="0"/>
              <a:t>динамично зареждаме различни кодове в зависимост от хода на играта.</a:t>
            </a:r>
            <a:endParaRPr dirty="0"/>
          </a:p>
        </p:txBody>
      </p:sp>
      <p:sp>
        <p:nvSpPr>
          <p:cNvPr id="370" name="Google Shape;370;p33"/>
          <p:cNvSpPr txBox="1">
            <a:spLocks noGrp="1"/>
          </p:cNvSpPr>
          <p:nvPr>
            <p:ph type="subTitle" idx="2"/>
          </p:nvPr>
        </p:nvSpPr>
        <p:spPr>
          <a:xfrm>
            <a:off x="3361300" y="1175850"/>
            <a:ext cx="2280600" cy="253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/>
              <a:t>Е функция която се извиква когато играча избере бутона за по-ниско число. В нея проверяваме дали е познал и ако е увеличаваме резултата му, ако не е променяме стоиноста на сегашното число за да известим </a:t>
            </a:r>
            <a:r>
              <a:rPr lang="en-US" dirty="0"/>
              <a:t>HTML </a:t>
            </a:r>
            <a:r>
              <a:rPr lang="bg-BG" dirty="0"/>
              <a:t>часта от нашият компонент да покожа екрана за загуба.</a:t>
            </a:r>
            <a:endParaRPr dirty="0"/>
          </a:p>
        </p:txBody>
      </p:sp>
      <p:sp>
        <p:nvSpPr>
          <p:cNvPr id="371" name="Google Shape;371;p33"/>
          <p:cNvSpPr txBox="1">
            <a:spLocks noGrp="1"/>
          </p:cNvSpPr>
          <p:nvPr>
            <p:ph type="subTitle" idx="3"/>
          </p:nvPr>
        </p:nvSpPr>
        <p:spPr>
          <a:xfrm>
            <a:off x="5908125" y="1175850"/>
            <a:ext cx="2280600" cy="13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/>
              <a:t>Е аналогична на функцията </a:t>
            </a:r>
            <a:r>
              <a:rPr lang="en-US" dirty="0" err="1"/>
              <a:t>isGuessLower</a:t>
            </a:r>
            <a:r>
              <a:rPr lang="bg-BG" dirty="0"/>
              <a:t>() която се вика от другият бутон, и има различна проверка дали играчът е познал.</a:t>
            </a:r>
            <a:endParaRPr dirty="0"/>
          </a:p>
        </p:txBody>
      </p:sp>
      <p:sp>
        <p:nvSpPr>
          <p:cNvPr id="372" name="Google Shape;372;p33"/>
          <p:cNvSpPr txBox="1">
            <a:spLocks noGrp="1"/>
          </p:cNvSpPr>
          <p:nvPr>
            <p:ph type="subTitle" idx="6"/>
          </p:nvPr>
        </p:nvSpPr>
        <p:spPr>
          <a:xfrm>
            <a:off x="5908125" y="555100"/>
            <a:ext cx="2583942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isGuessHigher</a:t>
            </a:r>
            <a:r>
              <a:rPr lang="en-US" dirty="0"/>
              <a:t>()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723807-D762-4443-AC5B-5CDC4686B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25" y="2571750"/>
            <a:ext cx="2280149" cy="22227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5573CB-F0D0-4AD2-BFB6-D30E3AFCC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173" y="3584100"/>
            <a:ext cx="2280149" cy="1004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07F930-432F-4FD1-BD5C-38828BF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795" y="2571750"/>
            <a:ext cx="2547272" cy="120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03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836700" y="1295222"/>
            <a:ext cx="3858900" cy="3363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bg-BG" sz="1600" dirty="0"/>
              <a:t>Когато играчът изгуби се показва съобщение и неговият краен резултат. Играчат има възможноста да избере бутона нова игра които ще извика функцията </a:t>
            </a:r>
            <a:r>
              <a:rPr lang="en-US" sz="1600" dirty="0" err="1"/>
              <a:t>newGame</a:t>
            </a:r>
            <a:r>
              <a:rPr lang="en-US" sz="1600" dirty="0"/>
              <a:t>()</a:t>
            </a:r>
            <a:r>
              <a:rPr lang="bg-BG" sz="1600" dirty="0"/>
              <a:t> и ще зареди нова игра.</a:t>
            </a:r>
          </a:p>
          <a:p>
            <a:pPr marL="0" indent="0">
              <a:buSzPts val="1100"/>
              <a:buNone/>
            </a:pPr>
            <a:r>
              <a:rPr lang="bg-BG" sz="1600" dirty="0"/>
              <a:t>Това става изключително лесно с вграденият </a:t>
            </a:r>
            <a:r>
              <a:rPr lang="en-US" sz="1600" dirty="0"/>
              <a:t>event listener</a:t>
            </a:r>
            <a:r>
              <a:rPr lang="bg-BG" sz="1600" dirty="0"/>
              <a:t> които изглежда по този начин.</a:t>
            </a:r>
          </a:p>
        </p:txBody>
      </p:sp>
      <p:grpSp>
        <p:nvGrpSpPr>
          <p:cNvPr id="311" name="Google Shape;311;p30"/>
          <p:cNvGrpSpPr/>
          <p:nvPr/>
        </p:nvGrpSpPr>
        <p:grpSpPr>
          <a:xfrm>
            <a:off x="5983950" y="1208098"/>
            <a:ext cx="5313368" cy="5145951"/>
            <a:chOff x="4326600" y="455623"/>
            <a:chExt cx="5313368" cy="5145951"/>
          </a:xfrm>
        </p:grpSpPr>
        <p:sp>
          <p:nvSpPr>
            <p:cNvPr id="312" name="Google Shape;312;p30"/>
            <p:cNvSpPr/>
            <p:nvPr/>
          </p:nvSpPr>
          <p:spPr>
            <a:xfrm>
              <a:off x="4326600" y="455623"/>
              <a:ext cx="5003996" cy="4833818"/>
            </a:xfrm>
            <a:custGeom>
              <a:avLst/>
              <a:gdLst/>
              <a:ahLst/>
              <a:cxnLst/>
              <a:rect l="l" t="t" r="r" b="b"/>
              <a:pathLst>
                <a:path w="4152694" h="4011467" extrusionOk="0">
                  <a:moveTo>
                    <a:pt x="0" y="3936788"/>
                  </a:moveTo>
                  <a:lnTo>
                    <a:pt x="1719121" y="2005734"/>
                  </a:lnTo>
                  <a:lnTo>
                    <a:pt x="2201400" y="2005734"/>
                  </a:lnTo>
                  <a:lnTo>
                    <a:pt x="4083375" y="0"/>
                  </a:lnTo>
                  <a:lnTo>
                    <a:pt x="4152694" y="4011468"/>
                  </a:lnTo>
                  <a:lnTo>
                    <a:pt x="0" y="3936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368901" y="767644"/>
              <a:ext cx="5003885" cy="4833930"/>
            </a:xfrm>
            <a:custGeom>
              <a:avLst/>
              <a:gdLst/>
              <a:ahLst/>
              <a:cxnLst/>
              <a:rect l="l" t="t" r="r" b="b"/>
              <a:pathLst>
                <a:path w="4152602" h="4011560" extrusionOk="0">
                  <a:moveTo>
                    <a:pt x="0" y="3936880"/>
                  </a:moveTo>
                  <a:lnTo>
                    <a:pt x="1719121" y="2005826"/>
                  </a:lnTo>
                  <a:lnTo>
                    <a:pt x="2201307" y="2005826"/>
                  </a:lnTo>
                  <a:lnTo>
                    <a:pt x="4083375" y="0"/>
                  </a:lnTo>
                  <a:lnTo>
                    <a:pt x="4152602" y="4011561"/>
                  </a:lnTo>
                  <a:lnTo>
                    <a:pt x="0" y="3936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368899" y="455625"/>
              <a:ext cx="5271069" cy="5056120"/>
            </a:xfrm>
            <a:custGeom>
              <a:avLst/>
              <a:gdLst/>
              <a:ahLst/>
              <a:cxnLst/>
              <a:rect l="l" t="t" r="r" b="b"/>
              <a:pathLst>
                <a:path w="4374331" h="4195950" extrusionOk="0">
                  <a:moveTo>
                    <a:pt x="0" y="4195950"/>
                  </a:moveTo>
                  <a:lnTo>
                    <a:pt x="1719121" y="2264896"/>
                  </a:lnTo>
                  <a:lnTo>
                    <a:pt x="2201307" y="2264896"/>
                  </a:lnTo>
                  <a:lnTo>
                    <a:pt x="4251590" y="0"/>
                  </a:lnTo>
                  <a:lnTo>
                    <a:pt x="4374332" y="297704"/>
                  </a:lnTo>
                  <a:lnTo>
                    <a:pt x="2436346" y="2579699"/>
                  </a:lnTo>
                  <a:lnTo>
                    <a:pt x="2025143" y="2583488"/>
                  </a:lnTo>
                  <a:lnTo>
                    <a:pt x="455475" y="4195950"/>
                  </a:lnTo>
                  <a:lnTo>
                    <a:pt x="0" y="419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30"/>
          <p:cNvPicPr preferRelativeResize="0"/>
          <p:nvPr/>
        </p:nvPicPr>
        <p:blipFill>
          <a:blip r:embed="rId3">
            <a:alphaModFix amt="79000"/>
          </a:blip>
          <a:stretch>
            <a:fillRect/>
          </a:stretch>
        </p:blipFill>
        <p:spPr>
          <a:xfrm>
            <a:off x="5983938" y="4007797"/>
            <a:ext cx="2344349" cy="2346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0"/>
          <p:cNvCxnSpPr/>
          <p:nvPr/>
        </p:nvCxnSpPr>
        <p:spPr>
          <a:xfrm>
            <a:off x="836700" y="1313075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C6F460-5859-47EF-890A-8581C7D0E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688" y="1208095"/>
            <a:ext cx="2343150" cy="2343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6D43E0-1F98-405A-9E01-056694FFF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86" y="3656225"/>
            <a:ext cx="42576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8976"/>
      </p:ext>
    </p:extLst>
  </p:cSld>
  <p:clrMapOvr>
    <a:masterClrMapping/>
  </p:clrMapOvr>
</p:sld>
</file>

<file path=ppt/theme/theme1.xml><?xml version="1.0" encoding="utf-8"?>
<a:theme xmlns:a="http://schemas.openxmlformats.org/drawingml/2006/main" name="Electric Motors Manufacturing Company Profile by Slidesgo">
  <a:themeElements>
    <a:clrScheme name="Simple Light">
      <a:dk1>
        <a:srgbClr val="2E2E2E"/>
      </a:dk1>
      <a:lt1>
        <a:srgbClr val="FFFFFF"/>
      </a:lt1>
      <a:dk2>
        <a:srgbClr val="EA5D59"/>
      </a:dk2>
      <a:lt2>
        <a:srgbClr val="EEEEEE"/>
      </a:lt2>
      <a:accent1>
        <a:srgbClr val="D9D9D9"/>
      </a:accent1>
      <a:accent2>
        <a:srgbClr val="CCCCCC"/>
      </a:accent2>
      <a:accent3>
        <a:srgbClr val="999999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552</Words>
  <Application>Microsoft Office PowerPoint</Application>
  <PresentationFormat>On-screen Show (16:9)</PresentationFormat>
  <Paragraphs>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Hind</vt:lpstr>
      <vt:lpstr>Golos Text</vt:lpstr>
      <vt:lpstr>Calibri</vt:lpstr>
      <vt:lpstr>Raleway</vt:lpstr>
      <vt:lpstr>Arial</vt:lpstr>
      <vt:lpstr>Nunito Light</vt:lpstr>
      <vt:lpstr>Work Sans</vt:lpstr>
      <vt:lpstr>Electric Motors Manufacturing Company Profile by Slidesgo</vt:lpstr>
      <vt:lpstr>Angular</vt:lpstr>
      <vt:lpstr>Какво е Angular</vt:lpstr>
      <vt:lpstr>PowerPoint Presentation</vt:lpstr>
      <vt:lpstr>Структура </vt:lpstr>
      <vt:lpstr>PowerPoint Presentation</vt:lpstr>
      <vt:lpstr>PowerPoint Presentation</vt:lpstr>
      <vt:lpstr>Библиотеки </vt:lpstr>
      <vt:lpstr>PowerPoint Presentation</vt:lpstr>
      <vt:lpstr>PowerPoint Presentation</vt:lpstr>
      <vt:lpstr>Моето приложение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</dc:title>
  <dc:creator>Admin</dc:creator>
  <cp:lastModifiedBy>Admin</cp:lastModifiedBy>
  <cp:revision>10</cp:revision>
  <dcterms:modified xsi:type="dcterms:W3CDTF">2025-04-09T13:00:17Z</dcterms:modified>
</cp:coreProperties>
</file>